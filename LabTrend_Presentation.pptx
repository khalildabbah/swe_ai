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579"/>
  </p:normalViewPr>
  <p:slideViewPr>
    <p:cSldViewPr snapToGrid="0" snapToObjects="1">
      <p:cViewPr varScale="1">
        <p:scale>
          <a:sx n="115" d="100"/>
          <a:sy n="115" d="100"/>
        </p:scale>
        <p:origin x="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8DD"/>
                </a:solidFill>
                <a:latin typeface="Segoe UI Semibold"/>
              </a:rPr>
              <a:t>SOFTWARE ENGINEERING SEMINAR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400" b="1" i="0">
                <a:solidFill>
                  <a:srgbClr val="FFFFFF"/>
                </a:solidFill>
                <a:latin typeface="Segoe UI Semibold"/>
              </a:rPr>
              <a:t>LabTrend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Early Detection of Patient Deterioration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9FD6CF"/>
                </a:solidFill>
                <a:latin typeface="Segoe UI Semibold"/>
              </a:rPr>
              <a:t>Using Laboratory Test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C4CFD9"/>
                </a:solidFill>
                <a:latin typeface="Segoe UI"/>
              </a:rPr>
              <a:t>A working software system that reads patients' lab results over time and flags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4CFD9"/>
                </a:solidFill>
                <a:latin typeface="Segoe UI"/>
              </a:rPr>
              <a:t>who is quietly getting worse — hours before it becomes obvious.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Mohammad Hajuj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516636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Khalil Dabbah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35824" y="516636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Riad Bkheet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15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Salwa Khaldi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5715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Naief Hajuj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5715000"/>
            <a:ext cx="3246120" cy="420624"/>
          </a:xfrm>
          <a:prstGeom prst="roundRect">
            <a:avLst>
              <a:gd name="adj" fmla="val 5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Mohammad Majdoub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C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03B3B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Deterioration hides in plain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475969"/>
                </a:solidFill>
                <a:latin typeface="Segoe UI"/>
              </a:rPr>
              <a:t>Hospitalized patients often show measurable changes in their lab results hours before a clinically obvious crisis. Those early signals are routinely missed — because labs are read as isolated point-in-time numbers, not as a trend.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529584" cy="2331720"/>
          </a:xfrm>
          <a:prstGeom prst="roundRect">
            <a:avLst>
              <a:gd name="adj" fmla="val 6000"/>
            </a:avLst>
          </a:prstGeom>
          <a:solidFill>
            <a:srgbClr val="F8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91440" cy="2331720"/>
          </a:xfrm>
          <a:prstGeom prst="rect">
            <a:avLst/>
          </a:prstGeom>
          <a:solidFill>
            <a:srgbClr val="C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3319272"/>
            <a:ext cx="3026664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42333"/>
                </a:solidFill>
                <a:latin typeface="Segoe UI Semibold"/>
              </a:rPr>
              <a:t>Read one value at a time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475969"/>
                </a:solidFill>
                <a:latin typeface="Segoe UI"/>
              </a:rPr>
              <a:t>A creatinine of 1.4 looks "a bit high" and gets ignored — even when it has doubled in 12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8" y="3063240"/>
            <a:ext cx="3529584" cy="2331720"/>
          </a:xfrm>
          <a:prstGeom prst="roundRect">
            <a:avLst>
              <a:gd name="adj" fmla="val 6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36008" y="3063240"/>
            <a:ext cx="91440" cy="233172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28616" y="3319272"/>
            <a:ext cx="3026664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42333"/>
                </a:solidFill>
                <a:latin typeface="Segoe UI Semibold"/>
              </a:rPr>
              <a:t>No view of the trajectory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475969"/>
                </a:solidFill>
                <a:latin typeface="Segoe UI"/>
              </a:rPr>
              <a:t>The story is in the slope, not the snapshot. Trends across several labs are rarely connected.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49056" y="3063240"/>
            <a:ext cx="3529584" cy="2331720"/>
          </a:xfrm>
          <a:prstGeom prst="roundRect">
            <a:avLst>
              <a:gd name="adj" fmla="val 6000"/>
            </a:avLst>
          </a:prstGeom>
          <a:solidFill>
            <a:srgbClr val="F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49056" y="3063240"/>
            <a:ext cx="91440" cy="2331720"/>
          </a:xfrm>
          <a:prstGeom prst="rect">
            <a:avLst/>
          </a:prstGeom>
          <a:solidFill>
            <a:srgbClr val="C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41664" y="3319272"/>
            <a:ext cx="3026664" cy="1874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42333"/>
                </a:solidFill>
                <a:latin typeface="Segoe UI Semibold"/>
              </a:rPr>
              <a:t>Signals arrive too late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475969"/>
                </a:solidFill>
                <a:latin typeface="Segoe UI"/>
              </a:rPr>
              <a:t>By the time a value is flagged abnormal, the window for an easy, early intervention has often closed.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3B3B"/>
                </a:solidFill>
                <a:latin typeface="Segoe UI Semibold"/>
              </a:rPr>
              <a:t>Research question:  </a:t>
            </a:r>
            <a:r>
              <a:rPr sz="1500" b="0" i="1">
                <a:solidFill>
                  <a:srgbClr val="142333"/>
                </a:solidFill>
                <a:latin typeface="Segoe UI"/>
              </a:rPr>
              <a:t>How can laboratory test trends over time be used to detect early signs of patient deterioration?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788"/>
                </a:solidFill>
                <a:latin typeface="Segoe UI Semibold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Turn lab history into an early-warning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475969"/>
                </a:solidFill>
                <a:latin typeface="Segoe UI"/>
              </a:rPr>
              <a:t>LabTrend ingests each patient's lab time-series, analyzes how every value is moving, and produces a small set of actionable outputs: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" y="278892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15768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Abnormal trend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spots clinically meaningful change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514600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65392" y="2788920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15768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Early-warning alerts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flags patients whose trends suggest deterioration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31336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78992" y="4105656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32504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Per-patient risk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one quantitative number: Low / Medium /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831336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65392" y="4105656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032504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Early-warning lead time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how many hours ahead the signal fires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48072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78992" y="542239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49240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Clinical syndrome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multi-lab patterns, not isolated values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148072"/>
            <a:ext cx="5212080" cy="1078992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65392" y="5422392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49240"/>
            <a:ext cx="39776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42333"/>
                </a:solidFill>
                <a:latin typeface="Segoe UI Semibold"/>
              </a:rPr>
              <a:t>Cited scoring rule book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every score traceable to a published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MIMIC-III  ·  the LABEVENTS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6492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475969"/>
                </a:solidFill>
                <a:latin typeface="Segoe UI"/>
              </a:rPr>
              <a:t>A large, de-identified critical-care database. We use LABEVENTS — every lab measurement ever recorded — and follow how each value moves per admission.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134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6FB8"/>
                </a:solidFill>
                <a:latin typeface="Segoe UI Semibold"/>
              </a:rPr>
              <a:t>FIVE INPUT FIELDS WE 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6FB8"/>
                </a:solidFill>
                <a:latin typeface="Consolas"/>
              </a:rPr>
              <a:t>SUBJECT_ID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974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333"/>
                </a:solidFill>
                <a:latin typeface="Segoe UI"/>
              </a:rPr>
              <a:t>the patient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3756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6FB8"/>
                </a:solidFill>
                <a:latin typeface="Consolas"/>
              </a:rPr>
              <a:t>HADM_ID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33756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333"/>
                </a:solidFill>
                <a:latin typeface="Segoe UI"/>
              </a:rPr>
              <a:t>the hospital admission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4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9776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6FB8"/>
                </a:solidFill>
                <a:latin typeface="Consolas"/>
              </a:rPr>
              <a:t>ITEMID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977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333"/>
                </a:solidFill>
                <a:latin typeface="Segoe UI"/>
              </a:rPr>
              <a:t>which lab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617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6FB8"/>
                </a:solidFill>
                <a:latin typeface="Consolas"/>
              </a:rPr>
              <a:t>CHARTTIME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617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333"/>
                </a:solidFill>
                <a:latin typeface="Segoe UI"/>
              </a:rPr>
              <a:t>when it was measured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257800"/>
            <a:ext cx="6400800" cy="5486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25780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6FB8"/>
                </a:solidFill>
                <a:latin typeface="Consolas"/>
              </a:rPr>
              <a:t>VALUENUM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257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42333"/>
                </a:solidFill>
                <a:latin typeface="Segoe UI"/>
              </a:rPr>
              <a:t>the numeric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313432"/>
            <a:ext cx="3703320" cy="3611880"/>
          </a:xfrm>
          <a:prstGeom prst="roundRect">
            <a:avLst>
              <a:gd name="adj" fmla="val 5000"/>
            </a:avLst>
          </a:prstGeom>
          <a:solidFill>
            <a:srgbClr val="14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0" y="2569464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8FB8DD"/>
                </a:solidFill>
                <a:latin typeface="Segoe UI Semibold"/>
              </a:rPr>
              <a:t>SCALE WE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306324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6FC7BC"/>
                </a:solidFill>
                <a:latin typeface="Segoe UI Semibold"/>
              </a:rPr>
              <a:t>27.8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1363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CFD9"/>
                </a:solidFill>
                <a:latin typeface="Segoe UI"/>
              </a:rPr>
              <a:t>raw lab rows streamed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630168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6FC7BC"/>
                </a:solidFill>
                <a:latin typeface="Segoe UI Semibold"/>
              </a:rPr>
              <a:t>4.6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7033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CFD9"/>
                </a:solidFill>
                <a:latin typeface="Segoe UI"/>
              </a:rPr>
              <a:t>clean measurements kept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197096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6FC7BC"/>
                </a:solidFill>
                <a:latin typeface="Segoe UI Semibold"/>
              </a:rPr>
              <a:t>45,411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70248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CFD9"/>
                </a:solidFill>
                <a:latin typeface="Segoe UI"/>
              </a:rPr>
              <a:t>distinct patients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4764024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6FC7BC"/>
                </a:solidFill>
                <a:latin typeface="Segoe UI Semibold"/>
              </a:rPr>
              <a:t>57,238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837176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CFD9"/>
                </a:solidFill>
                <a:latin typeface="Segoe UI"/>
              </a:rPr>
              <a:t>hospital admissions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5330952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6FC7BC"/>
                </a:solidFill>
                <a:latin typeface="Segoe UI Semibold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404104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4CFD9"/>
                </a:solidFill>
                <a:latin typeface="Segoe UI"/>
              </a:rPr>
              <a:t>core labs tracked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5332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7A12"/>
                </a:solidFill>
                <a:latin typeface="Segoe UI Semibold"/>
              </a:rPr>
              <a:t>Privacy:  </a:t>
            </a:r>
            <a:r>
              <a:rPr sz="1250" b="0" i="0">
                <a:solidFill>
                  <a:srgbClr val="475969"/>
                </a:solidFill>
                <a:latin typeface="Segoe UI"/>
              </a:rPr>
              <a:t>MIMIC-III is restricted-access (PhysioNet training + DUA). No real patient data is in the repo — a ~90 MB fully synthetic sample ships so it runs on a fresh clone.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Eight core labs — in plain English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Creatinine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0.6–1.2 mg/dL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95144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Kidney waste; rising = kidneys struggling.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783080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64224" y="1783080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38544" y="192024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Urea Nitrogen (BUN)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7–20 mg/dL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2295144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High = kidney stress or dehydration.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98648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898648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03580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Potassium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3.5–5.0 mEq/L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1071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Off-balance risks dangerous heart rhythms.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898648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64224" y="2898648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303580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Sodium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135–145 mEq/L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41071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Controls water balance; affects brain &amp; nerves.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14216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4014216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15137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Bicarbonate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22–29 mEq/L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262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Low = blood turning too acidic.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4224" y="4014216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64224" y="4014216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38544" y="4151376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White Blood Cells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4–11 K/µL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4526280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High signals infection; very low weakens immunity.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129784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5129784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266944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Hematocrit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36–48 %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64184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Low = anemia or blood loss.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4" y="5129784"/>
            <a:ext cx="5285232" cy="950976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64224" y="5129784"/>
            <a:ext cx="82296" cy="950976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38544" y="5266944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42333"/>
                </a:solidFill>
                <a:latin typeface="Segoe UI Semibold"/>
              </a:rPr>
              <a:t>Lactate</a:t>
            </a:r>
            <a:r>
              <a:rPr sz="1250" b="1" i="0">
                <a:solidFill>
                  <a:srgbClr val="129788"/>
                </a:solidFill>
                <a:latin typeface="Consolas"/>
              </a:rPr>
              <a:t>    0.5–2.0 mmol/L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564184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Rising = tissues starved of oxygen (shock).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475969"/>
                </a:solidFill>
                <a:latin typeface="Segoe UI"/>
              </a:rPr>
              <a:t>Generic adult reference ranges, for this educational prototype only — not clinical advice.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A pipeline: data → analysis → score → screen</a:t>
            </a:r>
          </a:p>
        </p:txBody>
      </p:sp>
      <p:pic>
        <p:nvPicPr>
          <p:cNvPr id="5" name="Picture 4" descr="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466859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78308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6FB8"/>
                </a:solidFill>
                <a:latin typeface="Segoe UI Semibold"/>
              </a:rPr>
              <a:t>FOUR STAGES, ONE DIRECTION OF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99632" y="240487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E6FB8"/>
                </a:solidFill>
                <a:latin typeface="Segoe UI Semibold"/>
              </a:rPr>
              <a:t>1 · Ingest &amp; clean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Stream LABEVENTS with DuckDB (no full RAM load), keep the 8 labs, drop junk values, dedupe.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310128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34290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E6FB8"/>
                </a:solidFill>
                <a:latin typeface="Segoe UI Semibold"/>
              </a:rPr>
              <a:t>2 · Build per-lab state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For each lab: its latest value plus recent history — the fork point of the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33425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9632" y="44531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E6FB8"/>
                </a:solidFill>
                <a:latin typeface="Segoe UI Semibold"/>
              </a:rPr>
              <a:t>3 · Score &amp; detect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Two tracks branch here: a risk-scoring track (severity + trend → Low/Med/High) and a syndrome track (match cited multi-lab patterns).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35838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2" y="5477256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E6FB8"/>
                </a:solidFill>
                <a:latin typeface="Segoe UI Semibold"/>
              </a:rPr>
              <a:t>4 · Dashboard &amp; 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FastAPI serves score, alerts, trajectory and syndromes; React renders the triage 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788"/>
                </a:solidFill>
                <a:latin typeface="Segoe UI Semibold"/>
              </a:rPr>
              <a:t>INSIDE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Eight components, each a small unit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9842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92808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Ingestion &amp; preprocessing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stream, filter to 8 labs, clean, build a compact analytical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4" y="1737360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92824" y="19842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78624" y="1892808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Trend analysis &amp; abnormality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how each lab moves; classify vs reference ranges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62072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1560" y="310896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17520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Risk scoring &amp; trajectory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one score per admission, recomputed at every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862072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92824" y="310896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3017520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Early-warning alerts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auto-generated flags when trends turn worrying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86784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1560" y="42336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42232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Syndrome detection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named multi-lab patterns (kidney, metabolic 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986784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92824" y="42336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4142232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Lead-time analysis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hours our signal fires ahead of MIMIC's own FLAG — the science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11496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1560" y="53583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266944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Detector evaluation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scored against MIMIC's FLAG column as ground truth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5111496"/>
            <a:ext cx="5285232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92824" y="53583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8624" y="5266944"/>
            <a:ext cx="418795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Cited scoring rule book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built live from the engine's constants — can't drift from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C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7A12"/>
                </a:solidFill>
                <a:latin typeface="Segoe UI Semibold"/>
              </a:rPr>
              <a:t>SHOW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How a risk score is decided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475969"/>
                </a:solidFill>
                <a:latin typeface="Segoe UI"/>
              </a:rPr>
              <a:t>Nothing is a black box. Every number traces back to a published reference — the dashboard even has a "Scoring Rule Book" tab built live from the engine's own constants.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514600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87A12"/>
                </a:solidFill>
                <a:latin typeface="Segoe UI Semibold"/>
              </a:rPr>
              <a:t>1 · Classify each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Inside range = normal (0 pts).  Just outside = abnormal (+1).  More than half the range-width beyond = critical (+2).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47288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87A12"/>
                </a:solidFill>
                <a:latin typeface="Segoe UI Semibold"/>
              </a:rPr>
              <a:t>2 · Add a trend penalty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+1 more if a lab is moving the wrong way while already out of range.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17136"/>
            <a:ext cx="649224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654296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C87A12"/>
                </a:solidFill>
                <a:latin typeface="Segoe UI Semibold"/>
              </a:rPr>
              <a:t>3 · Sum into one score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75969"/>
                </a:solidFill>
                <a:latin typeface="Segoe UI"/>
              </a:rPr>
              <a:t>Add every lab's points to get the admission's total risk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37744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7A12"/>
                </a:solidFill>
                <a:latin typeface="Segoe UI Semibold"/>
              </a:rPr>
              <a:t>FROM SCORE TO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788920"/>
            <a:ext cx="3703320" cy="841248"/>
          </a:xfrm>
          <a:prstGeom prst="roundRect">
            <a:avLst>
              <a:gd name="adj" fmla="val 10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2788920"/>
            <a:ext cx="100584" cy="841248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2788920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29788"/>
                </a:solidFill>
                <a:latin typeface="Segoe UI Semibold"/>
              </a:rPr>
              <a:t>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788920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333"/>
                </a:solidFill>
                <a:latin typeface="Consolas"/>
              </a:rPr>
              <a:t>total 0 –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749040"/>
            <a:ext cx="3703320" cy="841248"/>
          </a:xfrm>
          <a:prstGeom prst="roundRect">
            <a:avLst>
              <a:gd name="adj" fmla="val 10000"/>
            </a:avLst>
          </a:prstGeom>
          <a:solidFill>
            <a:srgbClr val="F8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3749040"/>
            <a:ext cx="100584" cy="841248"/>
          </a:xfrm>
          <a:prstGeom prst="rect">
            <a:avLst/>
          </a:prstGeom>
          <a:solidFill>
            <a:srgbClr val="C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3749040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87A12"/>
                </a:solidFill>
                <a:latin typeface="Segoe UI Semibold"/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749040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333"/>
                </a:solidFill>
                <a:latin typeface="Consolas"/>
              </a:rPr>
              <a:t>total 3 –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709160"/>
            <a:ext cx="3703320" cy="841248"/>
          </a:xfrm>
          <a:prstGeom prst="roundRect">
            <a:avLst>
              <a:gd name="adj" fmla="val 10000"/>
            </a:avLst>
          </a:prstGeom>
          <a:solidFill>
            <a:srgbClr val="F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4709160"/>
            <a:ext cx="100584" cy="841248"/>
          </a:xfrm>
          <a:prstGeom prst="rect">
            <a:avLst/>
          </a:prstGeom>
          <a:solidFill>
            <a:srgbClr val="C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0" y="4709160"/>
            <a:ext cx="18288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3B3B"/>
                </a:solidFill>
                <a:latin typeface="Segoe UI Semibold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4709160"/>
            <a:ext cx="15544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2333"/>
                </a:solidFill>
                <a:latin typeface="Consolas"/>
              </a:rPr>
              <a:t>total 6 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87A12"/>
                </a:solidFill>
                <a:latin typeface="Segoe UI Semibold"/>
              </a:rPr>
              <a:t>Sources:  </a:t>
            </a:r>
            <a:r>
              <a:rPr sz="1250" b="0" i="0">
                <a:solidFill>
                  <a:srgbClr val="475969"/>
                </a:solidFill>
                <a:latin typeface="Segoe UI"/>
              </a:rPr>
              <a:t>NEJM reference values, KDIGO, Sepsis-3, NEWS2. The prototype's own scaling choices are honestly labelled "engine heuristic."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788"/>
                </a:solidFill>
                <a:latin typeface="Segoe UI Semibold"/>
              </a:rPr>
              <a:t>THE SCIENTIFIC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Lead time: how far ahead do we fire?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475969"/>
                </a:solidFill>
                <a:latin typeface="Segoe UI"/>
              </a:rPr>
              <a:t>The whole premise is that a trend warns earlier than a single flagged value. So we measure it: for each admission we compare when our trend signal fires against when MIMIC first marks a lab abnormal (its FLAG column), and report the gap in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5212080" cy="109728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200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29788"/>
                </a:solidFill>
                <a:latin typeface="Segoe UI Semibold"/>
              </a:rPr>
              <a:t>Lead-time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04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2978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Compares our trend signal vs MIMIC's first abnormal FLAG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2978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Quantifies the early-warning window in hours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2978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Directly answers the research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288036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6792" y="2880360"/>
            <a:ext cx="5212080" cy="109728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6832" y="3200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E6FB8"/>
                </a:solidFill>
                <a:latin typeface="Segoe UI Semibold"/>
              </a:rPr>
              <a:t>Detector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38404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6FB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Treats MIMIC's FLAG column as ground truth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6FB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Scores our abnormality detector — overall and per-lab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E6FB8"/>
                </a:solidFill>
                <a:latin typeface="Segoe UI Semibold"/>
              </a:rPr>
              <a:t>▸  </a:t>
            </a:r>
            <a:r>
              <a:rPr sz="1500" b="0" i="0">
                <a:solidFill>
                  <a:srgbClr val="142333"/>
                </a:solidFill>
                <a:latin typeface="Segoe UI"/>
              </a:rPr>
              <a:t>Keeps the system honest, not just plausible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An interactive triage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6FB8"/>
                </a:solidFill>
                <a:latin typeface="Segoe UI Semibold"/>
              </a:rPr>
              <a:t>WHAT A USER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359152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Opens ready to read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auto-selects the highest-risk patient on load — no empty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64408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Triage board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admissions ranked by risk; filter High / Medium / Low /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88536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407408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Detail pane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risk score + category, risk trajectory across the stay, early-warning alerts, every lab plotted over time with its normal-range band.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312664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5431536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42333"/>
                </a:solidFill>
                <a:latin typeface="Segoe UI Semibold"/>
              </a:rPr>
              <a:t>Built-in glossary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non-clinical audience — every term explains itself on hover.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7830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6FB8"/>
                </a:solidFill>
                <a:latin typeface="Segoe UI Semibold"/>
              </a:rPr>
              <a:t>JSON API BEHIND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24028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4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224028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4028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scale + risk distribution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88036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288036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/api/admissions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8036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triage list ranked by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52044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4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35204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/api/admissions/{id}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204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one admission, full detail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416052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16052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/api/lead-time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16052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hours ahead the signal fires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80060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4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480060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80060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accuracy vs MIMIC FLAG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5440680"/>
            <a:ext cx="4709160" cy="566928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0" y="544068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FC9F0"/>
                </a:solidFill>
                <a:latin typeface="Consolas"/>
              </a:rPr>
              <a:t>/api/rules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44068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3DDE6"/>
                </a:solidFill>
                <a:latin typeface="Segoe UI"/>
              </a:rPr>
              <a:t>the cited scoring rule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Tech stack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529584" cy="3931920"/>
          </a:xfrm>
          <a:prstGeom prst="roundRect">
            <a:avLst>
              <a:gd name="adj" fmla="val 5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3529584" cy="118872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121408"/>
            <a:ext cx="29809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E6FB8"/>
                </a:solidFill>
                <a:latin typeface="Segoe UI Semibold"/>
              </a:rPr>
              <a:t>Data &amp;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DuckDB 1.5.3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streams the 1.8 GB CSV, no full RAM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70332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MotherDuck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cloud DuckDB — hosts the full 4.6 M-row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66344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Synthetic sample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~90 MB fallback so a fresh clone just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1828800"/>
            <a:ext cx="3529584" cy="3931920"/>
          </a:xfrm>
          <a:prstGeom prst="roundRect">
            <a:avLst>
              <a:gd name="adj" fmla="val 5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36008" y="1828800"/>
            <a:ext cx="3529584" cy="118872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28616" y="2121408"/>
            <a:ext cx="29809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9788"/>
                </a:solidFill>
                <a:latin typeface="Segoe UI Semibold"/>
              </a:rPr>
              <a:t>Analysis &amp;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74320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Pure Python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the analysis engine in src/analysis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370332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FastAPI + uvicorn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serves the JSON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466344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pytest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unit-tested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1828800"/>
            <a:ext cx="3529584" cy="3931920"/>
          </a:xfrm>
          <a:prstGeom prst="roundRect">
            <a:avLst>
              <a:gd name="adj" fmla="val 5000"/>
            </a:avLst>
          </a:prstGeom>
          <a:solidFill>
            <a:srgbClr val="F8E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49056" y="1828800"/>
            <a:ext cx="3529584" cy="118872"/>
          </a:xfrm>
          <a:prstGeom prst="rect">
            <a:avLst/>
          </a:prstGeom>
          <a:solidFill>
            <a:srgbClr val="C8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41664" y="2121408"/>
            <a:ext cx="29809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87A12"/>
                </a:solidFill>
                <a:latin typeface="Segoe UI Semibold"/>
              </a:rPr>
              <a:t>UI &amp;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274320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React (Vite) + Recharts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the dashboard &amp; charts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1664" y="370332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Docker (multi-stage)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one image serves API +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4663440"/>
            <a:ext cx="298094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42333"/>
                </a:solidFill>
                <a:latin typeface="Segoe UI Semibold"/>
              </a:rPr>
              <a:t>Render + GitHub Actions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75969"/>
                </a:solidFill>
                <a:latin typeface="Segoe UI"/>
              </a:rPr>
              <a:t>live deploy, CI on every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9788"/>
                </a:solidFill>
                <a:latin typeface="Segoe UI Semibold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Working prototype — built &amp;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5840" y="1965960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828800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Research question &amp; scope 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4" y="1828800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47104" y="1965960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828800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Dataset &amp; input fields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87168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24328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487168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Ingestion pipeline (DuckDB streaming)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487168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47104" y="2624328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487168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Trend analysis &amp; abnormality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45536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3282696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145536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Risk scoring, trajectory &amp; alert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4224" y="3145536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47104" y="3282696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145536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Clinical syndrome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03904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5840" y="3941064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803904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Lead-time analysis &amp; detector evaluation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803904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547104" y="3941064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803904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Cited scoring rule book (live from engine)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62272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5840" y="4599432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462272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Dashboard (FastAPI + React)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4462272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47104" y="4599432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462272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pytest suite + GitHub Actions CI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120640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05840" y="5257800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5120640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Full dataset hosted on MotherDuck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5120640"/>
            <a:ext cx="5285232" cy="56692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547104" y="5257800"/>
            <a:ext cx="292608" cy="292608"/>
          </a:xfrm>
          <a:prstGeom prst="ellipse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5120640"/>
            <a:ext cx="446227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42333"/>
                </a:solidFill>
                <a:latin typeface="Segoe UI"/>
              </a:rPr>
              <a:t>Dockerized &amp; deployed live on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E6FB8"/>
                </a:solidFill>
                <a:latin typeface="Segoe UI Semibold"/>
              </a:rPr>
              <a:t>Next:  </a:t>
            </a:r>
            <a:r>
              <a:rPr sz="1350" b="0" i="1">
                <a:solidFill>
                  <a:srgbClr val="475969"/>
                </a:solidFill>
                <a:latin typeface="Segoe UI"/>
              </a:rPr>
              <a:t>tune thresholds &amp; ICU ranges · expand beyond 8 labs · explore a learned risk model behind the same interface · evaluate against patient outcomes.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6FB8"/>
                </a:solidFill>
                <a:latin typeface="Segoe UI Semibold"/>
              </a:rPr>
              <a:t>SEMINAR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42333"/>
                </a:solidFill>
                <a:latin typeface="Segoe UI Semibold"/>
              </a:rPr>
              <a:t>The two papers behind the seminar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2148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18872" cy="214884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2333"/>
                </a:solidFill>
                <a:latin typeface="Segoe UI Semibold"/>
              </a:rPr>
              <a:t>SWE-agent: Agent-Computer Interfaces Enable Automated Software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274320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E6FB8"/>
                </a:solidFill>
                <a:latin typeface="Segoe UI Semibold"/>
              </a:rPr>
              <a:t>LLM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743200"/>
            <a:ext cx="772668" cy="347472"/>
          </a:xfrm>
          <a:prstGeom prst="roundRect">
            <a:avLst>
              <a:gd name="adj" fmla="val 5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E6FB8"/>
                </a:solidFill>
                <a:latin typeface="Segoe UI Semibold"/>
              </a:rPr>
              <a:t>ACI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8748" y="2743200"/>
            <a:ext cx="1403604" cy="347472"/>
          </a:xfrm>
          <a:prstGeom prst="roundRect">
            <a:avLst>
              <a:gd name="adj" fmla="val 5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E6FB8"/>
                </a:solidFill>
                <a:latin typeface="Segoe UI Semibold"/>
              </a:rPr>
              <a:t>SWE-bench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Argues that an LLM agent is a new kind of "end-user" that benefits from a purpose-built interface. Introduces the Agent-Computer Interface (ACI): a compact set of view / search / edit actions with concise feedback and guardrails (e.g. a linter that blocks bad edits) — boosting performance on real GitHub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2148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8872" cy="214884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3434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42333"/>
                </a:solidFill>
                <a:latin typeface="Segoe UI Semibold"/>
              </a:rPr>
              <a:t>Test-Driven Development for Code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029200"/>
            <a:ext cx="877824" cy="347472"/>
          </a:xfrm>
          <a:prstGeom prst="roundRect">
            <a:avLst>
              <a:gd name="adj" fmla="val 50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29788"/>
                </a:solidFill>
                <a:latin typeface="Segoe UI Semibold"/>
              </a:rPr>
              <a:t>LLMs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7984" y="5029200"/>
            <a:ext cx="772668" cy="347472"/>
          </a:xfrm>
          <a:prstGeom prst="roundRect">
            <a:avLst>
              <a:gd name="adj" fmla="val 50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29788"/>
                </a:solidFill>
                <a:latin typeface="Segoe UI Semibold"/>
              </a:rPr>
              <a:t>TDD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7812" y="5029200"/>
            <a:ext cx="2034540" cy="347472"/>
          </a:xfrm>
          <a:prstGeom prst="roundRect">
            <a:avLst>
              <a:gd name="adj" fmla="val 50000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29788"/>
                </a:solidFill>
                <a:latin typeface="Segoe UI Semibold"/>
              </a:rPr>
              <a:t>Code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475969"/>
                </a:solidFill>
                <a:latin typeface="Segoe UI"/>
              </a:rPr>
              <a:t>Tests whether TDD helps when a language model (GPT-4, Llama 3) writes the code. Instead of just asking for a solution, the developer supplies the tests up front — as a spec, not only a check — and a remediation loop re-runs failed tests and asks the model to fix itself.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LabTrend · Early Detection of Patient Deterioration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47596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129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FB8DD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LabTrend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9FD6CF"/>
                </a:solidFill>
                <a:latin typeface="Segoe UI Semibold"/>
              </a:rPr>
              <a:t>Reading lab trends so deterioration is caught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FB8DD"/>
                </a:solidFill>
                <a:latin typeface="Segoe UI Semibold"/>
              </a:rPr>
              <a:t>THE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37560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Mohammad Hajuj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337560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Khalil Dabbah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35824" y="3337560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Riad Bkheet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41064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Salwa Khaldi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941064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Naief Hajuj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3941064"/>
            <a:ext cx="3246120" cy="457200"/>
          </a:xfrm>
          <a:prstGeom prst="roundRect">
            <a:avLst>
              <a:gd name="adj" fmla="val 40000"/>
            </a:avLst>
          </a:prstGeom>
          <a:solidFill>
            <a:srgbClr val="1E3246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 i="0">
                <a:solidFill>
                  <a:srgbClr val="FFFFFF"/>
                </a:solidFill>
                <a:latin typeface="Segoe UI"/>
              </a:rPr>
              <a:t>Mohammad Majdoub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7492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2212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FC7BC"/>
                </a:solidFill>
                <a:latin typeface="Segoe UI Semibold"/>
              </a:rPr>
              <a:t>Live demo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deterioration-detector.onrender.com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07492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52212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FC7BC"/>
                </a:solidFill>
                <a:latin typeface="Segoe UI Semibold"/>
              </a:rPr>
              <a:t>Project site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swe-ai-web.vercel.app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507492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1B2C3D"/>
          </a:solidFill>
          <a:ln w="9525">
            <a:solidFill>
              <a:srgbClr val="354C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5221224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6FC7BC"/>
                </a:solidFill>
                <a:latin typeface="Segoe UI Semibold"/>
              </a:rPr>
              <a:t>Source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github.com/khalildabbah/SWE_AI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A99A8"/>
                </a:solidFill>
                <a:latin typeface="Segoe UI"/>
              </a:rPr>
              <a:t>Academic prototype for a Software Engineering seminar — not a medical device; not for clinical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1725</Words>
  <Application>Microsoft Macintosh PowerPoint</Application>
  <PresentationFormat>Widescreen</PresentationFormat>
  <Paragraphs>280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חליל דבאח</cp:lastModifiedBy>
  <cp:revision>2</cp:revision>
  <dcterms:created xsi:type="dcterms:W3CDTF">2013-01-27T09:14:16Z</dcterms:created>
  <dcterms:modified xsi:type="dcterms:W3CDTF">2026-06-30T11:47:05Z</dcterms:modified>
  <cp:category/>
</cp:coreProperties>
</file>